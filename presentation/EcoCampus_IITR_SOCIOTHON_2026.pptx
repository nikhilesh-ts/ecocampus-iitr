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E0E0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0E0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0E0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0E0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810249" cy="16478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7865" y="207818"/>
            <a:ext cx="3267074" cy="6572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706296"/>
            <a:ext cx="1314449" cy="172402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6574" y="3215712"/>
            <a:ext cx="447674" cy="6476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4086" y="2778200"/>
            <a:ext cx="447674" cy="44767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858000"/>
            <a:ext cx="1533524" cy="15049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Relationship Id="rId33" Type="http://schemas.openxmlformats.org/officeDocument/2006/relationships/image" Target="../media/image27.png"/><Relationship Id="rId34" Type="http://schemas.openxmlformats.org/officeDocument/2006/relationships/image" Target="../media/image28.png"/><Relationship Id="rId35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5810249" cy="16478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7865" y="207818"/>
            <a:ext cx="3267074" cy="6572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1706296"/>
            <a:ext cx="1314449" cy="172402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6574" y="3215712"/>
            <a:ext cx="447674" cy="6476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4086" y="2778200"/>
            <a:ext cx="447674" cy="44767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6858000"/>
            <a:ext cx="1533524" cy="150494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69927" y="7929904"/>
            <a:ext cx="141514" cy="15335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20353" y="8137721"/>
            <a:ext cx="447674" cy="44767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8356477"/>
            <a:ext cx="2828924" cy="193052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7818" y="9428381"/>
            <a:ext cx="885824" cy="65722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756709" y="0"/>
            <a:ext cx="1531291" cy="17144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19196" y="1279722"/>
            <a:ext cx="1968804" cy="65722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580085" y="207818"/>
            <a:ext cx="447674" cy="43814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798841" y="634392"/>
            <a:ext cx="447674" cy="44767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236352" y="207818"/>
            <a:ext cx="1533524" cy="13049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975463" y="2351626"/>
            <a:ext cx="1312536" cy="1504949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697046" y="3718963"/>
            <a:ext cx="141514" cy="142398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756708" y="3850105"/>
            <a:ext cx="447674" cy="44767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194220" y="4495435"/>
            <a:ext cx="885824" cy="65722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75463" y="6639244"/>
            <a:ext cx="1104899" cy="1085849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756708" y="7284574"/>
            <a:ext cx="1531291" cy="65722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923818" y="9209626"/>
            <a:ext cx="447674" cy="22859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580085" y="8575234"/>
            <a:ext cx="447674" cy="64769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4142573" y="7711147"/>
            <a:ext cx="3276599" cy="194309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892621" y="8356477"/>
            <a:ext cx="2390774" cy="1930521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788021" y="126976"/>
            <a:ext cx="1228724" cy="1228724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185145" y="0"/>
            <a:ext cx="2181224" cy="176293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536052" y="239109"/>
            <a:ext cx="27431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57443" y="1829741"/>
            <a:ext cx="5516880" cy="182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E0E0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32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810249" cy="16478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7865" y="207818"/>
              <a:ext cx="3267074" cy="657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706296"/>
              <a:ext cx="1314449" cy="1724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574" y="3215712"/>
              <a:ext cx="447674" cy="6476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086" y="2778200"/>
              <a:ext cx="447674" cy="447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858000"/>
              <a:ext cx="1533524" cy="150494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927" y="7929904"/>
            <a:ext cx="141514" cy="15335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8137721"/>
            <a:ext cx="2828925" cy="2149475"/>
            <a:chOff x="0" y="8137721"/>
            <a:chExt cx="2828925" cy="214947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0353" y="8137721"/>
              <a:ext cx="447674" cy="447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8356477"/>
              <a:ext cx="2828924" cy="19305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7818" y="9428381"/>
              <a:ext cx="885824" cy="65722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6319196" y="0"/>
            <a:ext cx="1969135" cy="1937385"/>
            <a:chOff x="16319196" y="0"/>
            <a:chExt cx="1969135" cy="1937385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56709" y="0"/>
              <a:ext cx="1531291" cy="17144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19196" y="1279722"/>
              <a:ext cx="1968804" cy="6572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4580085" y="207818"/>
            <a:ext cx="2190115" cy="1304925"/>
            <a:chOff x="14580085" y="207818"/>
            <a:chExt cx="2190115" cy="1304925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80085" y="207818"/>
              <a:ext cx="447674" cy="4381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798841" y="634392"/>
              <a:ext cx="447674" cy="4476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36352" y="207818"/>
              <a:ext cx="1533524" cy="130492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6756708" y="2351626"/>
            <a:ext cx="1531620" cy="1946275"/>
            <a:chOff x="16756708" y="2351626"/>
            <a:chExt cx="1531620" cy="1946275"/>
          </a:xfrm>
        </p:grpSpPr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975463" y="2351626"/>
              <a:ext cx="1312536" cy="15049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697046" y="3718963"/>
              <a:ext cx="141514" cy="1423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56708" y="3850105"/>
              <a:ext cx="447674" cy="447674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194220" y="4495435"/>
            <a:ext cx="885824" cy="65722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6756708" y="6639244"/>
            <a:ext cx="1531620" cy="1303020"/>
            <a:chOff x="16756708" y="6639244"/>
            <a:chExt cx="1531620" cy="1303020"/>
          </a:xfrm>
        </p:grpSpPr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975463" y="6639244"/>
              <a:ext cx="1104899" cy="10858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756708" y="7284574"/>
              <a:ext cx="1531291" cy="657224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923818" y="9209626"/>
            <a:ext cx="447674" cy="228599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4142573" y="7711147"/>
            <a:ext cx="4140835" cy="2576195"/>
            <a:chOff x="14142573" y="7711147"/>
            <a:chExt cx="4140835" cy="2576195"/>
          </a:xfrm>
        </p:grpSpPr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580085" y="8575234"/>
              <a:ext cx="447674" cy="6476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142573" y="7711147"/>
              <a:ext cx="3276599" cy="19430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892621" y="8356477"/>
              <a:ext cx="2390774" cy="193052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956389" y="3845493"/>
            <a:ext cx="11084560" cy="292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</a:pPr>
            <a:r>
              <a:rPr sz="4000" b="1">
                <a:solidFill>
                  <a:srgbClr val="0F172A"/>
                </a:solidFill>
                <a:latin typeface="Arial Black"/>
              </a:rPr>
              <a:t>ECOCAMPUS IIT ROORKEE</a:t>
            </a:r>
            <a:endParaRPr sz="2800">
              <a:latin typeface="Arial Black"/>
              <a:cs typeface="Arial Black"/>
            </a:endParaRP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59669"/>
                </a:solidFill>
                <a:latin typeface="Segoe UI"/>
              </a:rPr>
              <a:t>“Turning IIT Roorkee’s 5,500 kg/day Waste Liability into a Self-Funding Circular Economy through 4-Way Incentive Alignment.”</a:t>
            </a:r>
          </a:p>
          <a:p>
            <a:r>
              <a:rPr sz="1500" b="1">
                <a:solidFill>
                  <a:srgbClr val="334155"/>
                </a:solidFill>
                <a:latin typeface="Segoe UI"/>
              </a:rPr>
              <a:t>Team Name: Team EcoCampus  |  SOCIOTHON 2026 (NSS IIT Roorkee × OSEN × Craftora)
Live Prototype: github.com/NIKHILESH-TS/EcoCampus-IITR</a:t>
            </a:r>
          </a:p>
        </p:txBody>
      </p:sp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788021" y="126976"/>
            <a:ext cx="1228724" cy="12287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85145" y="0"/>
            <a:ext cx="2181224" cy="176293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536052" y="239109"/>
            <a:ext cx="2743199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84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pc="-290"/>
              <a:t>THE</a:t>
            </a:r>
            <a:r>
              <a:rPr dirty="0" spc="-265"/>
              <a:t> </a:t>
            </a:r>
            <a:r>
              <a:rPr dirty="0" spc="-85"/>
              <a:t>PROBLEM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pc="-245"/>
              <a:t>what</a:t>
            </a:r>
            <a:r>
              <a:rPr dirty="0" spc="-235"/>
              <a:t> </a:t>
            </a:r>
            <a:r>
              <a:rPr dirty="0" spc="-204"/>
              <a:t>challenge</a:t>
            </a:r>
            <a:r>
              <a:rPr dirty="0" spc="-235"/>
              <a:t> </a:t>
            </a:r>
            <a:r>
              <a:rPr dirty="0" spc="-210"/>
              <a:t>are</a:t>
            </a:r>
            <a:r>
              <a:rPr dirty="0" spc="-235"/>
              <a:t> </a:t>
            </a:r>
            <a:r>
              <a:rPr dirty="0" spc="-135"/>
              <a:t>you</a:t>
            </a:r>
            <a:r>
              <a:rPr dirty="0" spc="-235"/>
              <a:t> </a:t>
            </a:r>
            <a:r>
              <a:rPr dirty="0" spc="-140"/>
              <a:t>solving?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926080"/>
            <a:ext cx="7498079" cy="3017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7132320" cy="2743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1. EMPIRICAL IIT ROORKEE WASTE AUDIT (MDPI STUDY)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5,500 kg / day (5.5 Metric Tonnes) across 365 Acres &amp; 12,000 Residents (0.46 kg/capita/day).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• Stream Breakdown: Organic Food 30.5% (1,676 kg) | Paper &amp; Cardboard 28.7% (1,580 kg) | Plastic 11.1% (613 kg) | Inert 10.8% (595 kg) | Dry Leaves 10.3% (569 kg).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• Infrastructure Gap: 200 bins in Govind Bhawan &amp; 80 community bins operate on fixed shifts without fill/weight telemetry or contamination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6172200"/>
            <a:ext cx="7498079" cy="30175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6309360"/>
            <a:ext cx="7132320" cy="2743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A3E635"/>
                </a:solidFill>
                <a:latin typeface="Segoe UI"/>
              </a:rPr>
              <a:t>2. ROOT CAUSE: BROKEN INCENTIVES ACROSS STAKEHOLDERS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• Students: Zero personal reward to segregate at the bin; complaint portals fail due to either student apathy or unverified fake reports.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• Sanitation Crew: Fixed wages regardless of waste purity; language barriers; unoptimized tractor routes burn 1,420 L/month excess diesel.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• Campus &amp; Recyclers: Wet food mixed into dry paper destroys 60% of B2B scrap value (₹8/kg mixed vs ₹17.20/kg baled Grade-A).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2944368"/>
            <a:ext cx="7735824" cy="52189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admin_com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017520"/>
            <a:ext cx="7589520" cy="4743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52560" y="7797546"/>
            <a:ext cx="758952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Live App Screenshot: Govind Bhawan 200-Bin Telemetry &amp; SLA Dispatch Console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8206" y="1922265"/>
            <a:ext cx="16713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THE</a:t>
            </a:r>
            <a:r>
              <a:rPr dirty="0" spc="-265"/>
              <a:t> </a:t>
            </a:r>
            <a:r>
              <a:rPr dirty="0" spc="-17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5048" y="2493765"/>
            <a:ext cx="36379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14">
                <a:solidFill>
                  <a:srgbClr val="0E0E0E"/>
                </a:solidFill>
                <a:latin typeface="Arial Black"/>
                <a:cs typeface="Arial Black"/>
              </a:rPr>
              <a:t>ECOCAMPUS IITR</a:t>
            </a:r>
            <a:r>
              <a:rPr dirty="0" sz="2800" spc="-229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2800" spc="-145">
                <a:solidFill>
                  <a:srgbClr val="0E0E0E"/>
                </a:solidFill>
                <a:latin typeface="Arial Black"/>
                <a:cs typeface="Arial Black"/>
              </a:rPr>
              <a:t>solution</a:t>
            </a:r>
            <a:r>
              <a:rPr dirty="0" sz="2800" spc="-229">
                <a:solidFill>
                  <a:srgbClr val="0E0E0E"/>
                </a:solidFill>
                <a:latin typeface="Arial Black"/>
                <a:cs typeface="Arial Black"/>
              </a:rPr>
              <a:t> </a:t>
            </a:r>
            <a:r>
              <a:rPr dirty="0" sz="2800" spc="-150">
                <a:solidFill>
                  <a:srgbClr val="0E0E0E"/>
                </a:solidFill>
                <a:latin typeface="Arial Black"/>
                <a:cs typeface="Arial Black"/>
              </a:rPr>
              <a:t>name]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88720" y="3108960"/>
            <a:ext cx="3703320" cy="2148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3200400"/>
            <a:ext cx="347472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1. STUDENT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AI Camera &amp; Voice Sorter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• Scans trash via MobileNetV3 (+10 Pts)
• Reports full bin via QR (+35 Pts on fix)
• Redeems Nescafe &amp; Mess Coupons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3108960"/>
            <a:ext cx="3703320" cy="2148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4648" y="3200400"/>
            <a:ext cx="347472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97706"/>
                </a:solidFill>
                <a:latin typeface="Segoe UI"/>
              </a:rPr>
              <a:t>2. FIELD CREW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Hindi Voice &amp; Ground Truth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• Receives Hindi ElevenLabs audio route
• Verifies issue or flags False Alarm (-25 Pts)
• Earns +₹150 bonus &amp; 30% scrap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108960"/>
            <a:ext cx="3703320" cy="2148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0848" y="3200400"/>
            <a:ext cx="347472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3. ESTATE ADMIN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IoT Sensor Fusion &amp; TSP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• Ultrasonic + Load Cell tracks 200 bins
• 2-Opt TSP optimizes tractor beat
• Batches weekly dry recyclable 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47320" y="3108960"/>
            <a:ext cx="3703320" cy="2148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57048" y="3200400"/>
            <a:ext cx="347472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4. B2B RECYCLER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Reverse Auction &amp; Vault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• ITC / Nepra bid live on baled lots
• Highest bid settles into Campus Vault
• Funds Canteen, Crew UPI &amp; Flood Relief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458968"/>
            <a:ext cx="7004304" cy="47617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studen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532120"/>
            <a:ext cx="6858000" cy="428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45920" y="9854946"/>
            <a:ext cx="685800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Live Student Portal: Action-First Overview &amp; Wallet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5458968"/>
            <a:ext cx="7004304" cy="47617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_auth_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5532120"/>
            <a:ext cx="6858000" cy="428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5440" y="9854946"/>
            <a:ext cx="685800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Live 4-Persona SSO &amp; Demo Credentials Gateway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75105">
              <a:lnSpc>
                <a:spcPct val="100000"/>
              </a:lnSpc>
              <a:spcBef>
                <a:spcPts val="100"/>
              </a:spcBef>
            </a:pPr>
            <a:r>
              <a:rPr dirty="0" spc="-409"/>
              <a:t>KEY</a:t>
            </a:r>
            <a:r>
              <a:rPr dirty="0" spc="-265"/>
              <a:t> </a:t>
            </a:r>
            <a:r>
              <a:rPr dirty="0" spc="-340"/>
              <a:t>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5568" y="2898648"/>
            <a:ext cx="5084064" cy="3561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ai_waste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71800"/>
            <a:ext cx="493776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6094476"/>
            <a:ext cx="493776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1. MobileNetV3 Vision + Bilingual Voice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2898648"/>
            <a:ext cx="5084064" cy="3561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field_crew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71800"/>
            <a:ext cx="493776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94476"/>
            <a:ext cx="493776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2. Field Crew Hindi Portal &amp; Anti-Spam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22608" y="2898648"/>
            <a:ext cx="5084064" cy="35615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recycler_bid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0" y="2971800"/>
            <a:ext cx="4937760" cy="3086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95760" y="6094476"/>
            <a:ext cx="493776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3. B2B Recycler Reverse Auction &amp; Gate Passes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6903720"/>
            <a:ext cx="15544800" cy="2240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7040880"/>
            <a:ext cx="15179040" cy="2011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END-TO-END FUNCTIONAL CAPABILITIES BUILT IN PROTOTYPE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• Student Suite: Live WebRTC Camera Classifier (Top-3 Softmax Logits), 2-Tap QR Overflow Reporting, P2P Hostel Re-Use Bazaar (Books/Kettles/Skates), &amp; Instant Nescafe Voucher Generator.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• Sanitation Crew Suite: One-tap Hindi/English ElevenLabs spoken instructions, MobileNetV3 rapid secondary sorter, Ground-Truth Photo Proof (False Alarm vs Verified Clean).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• Admin &amp; B2B Suite: 200-Bin Load/Volume Telemetry, Printable QR Sticker Sheet Generator, 2-Opt Route Optimizer, Live B2B Reverse Bidding &amp; Weighbridge Gate Pass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1101" y="1829741"/>
            <a:ext cx="4585970" cy="1823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INNOVATION</a:t>
            </a:r>
          </a:p>
          <a:p>
            <a:pPr algn="ctr" marL="12065" marR="5080">
              <a:lnSpc>
                <a:spcPct val="160700"/>
              </a:lnSpc>
            </a:pPr>
            <a:r>
              <a:rPr dirty="0" spc="-190"/>
              <a:t>“what</a:t>
            </a:r>
            <a:r>
              <a:rPr dirty="0" spc="-254"/>
              <a:t> </a:t>
            </a:r>
            <a:r>
              <a:rPr dirty="0" spc="-285"/>
              <a:t>makes</a:t>
            </a:r>
            <a:r>
              <a:rPr dirty="0" spc="-250"/>
              <a:t> </a:t>
            </a:r>
            <a:r>
              <a:rPr dirty="0" spc="-110"/>
              <a:t>it</a:t>
            </a:r>
            <a:r>
              <a:rPr dirty="0" spc="-254"/>
              <a:t> </a:t>
            </a:r>
            <a:r>
              <a:rPr dirty="0" spc="-100"/>
              <a:t>different?” </a:t>
            </a:r>
            <a:r>
              <a:rPr dirty="0" spc="-290"/>
              <a:t>THE</a:t>
            </a:r>
            <a:r>
              <a:rPr dirty="0" spc="-265"/>
              <a:t> </a:t>
            </a:r>
            <a:r>
              <a:rPr dirty="0" spc="-285"/>
              <a:t>DIFFERENTIATOR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926080"/>
            <a:ext cx="8412480" cy="6217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3108960"/>
            <a:ext cx="7955279" cy="5852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A3E635"/>
                </a:solidFill>
                <a:latin typeface="Segoe UI"/>
              </a:rPr>
              <a:t>KEY DISTINCTION: ECOSYSTEM-WIDE INCENTIVE ALIGNMENT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Most waste apps fail because they rely on voluntary charity. We engineered a self-funding game-theoretic loop where every actor profits from clean segregation: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A3E635"/>
                </a:solidFill>
                <a:latin typeface="Segoe UI"/>
              </a:rPr>
              <a:t>1. Students (Game-Theoretic Anti-Griefing):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   • +10 EcoTokens per AI-verified disposal | +35 Tokens when worker verifies overflow report.
   • -25 Token Penalty if field crew photo proves a False Alarm (eliminates spam).
   • Liquid Value: 1 Token = ₹0.50 at Campus Nescafe, Night Canteen, or Hostel Re-Use Bazaar.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A3E635"/>
                </a:solidFill>
                <a:latin typeface="Segoe UI"/>
              </a:rPr>
              <a:t>2. Sanitation Field Crew (Dignity + Direct Wealth Share):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   • +₹150 instant bonus per verified SLA cleanup + 30% share of weekly B2B scrap revenue paid every Friday via UPI.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A3E635"/>
                </a:solidFill>
                <a:latin typeface="Segoe UI"/>
              </a:rPr>
              <a:t>3. B2B Recyclers &amp; Self-Funding Campus Vault: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   • ITC &amp; Nepra bid up to ₹17.20/kg (+56% over informal rates) for dry baled lots.
   • Vault Split: 30% Student Food Pass | 30% Crew UPI | 25% Baler/IoT Upkeep | 15% NSS Flood Relief.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2944368"/>
            <a:ext cx="7004304" cy="47617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canteen_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017520"/>
            <a:ext cx="6858000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7340346"/>
            <a:ext cx="685800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Live Canteen Voucher Pass &amp; NSS Flood Relief Matching 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8944" rIns="0" bIns="0" rtlCol="0" vert="horz">
            <a:spAutoFit/>
          </a:bodyPr>
          <a:lstStyle/>
          <a:p>
            <a:pPr marL="2003425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TECH</a:t>
            </a:r>
            <a:r>
              <a:rPr dirty="0" spc="-265"/>
              <a:t> </a:t>
            </a:r>
            <a:r>
              <a:rPr dirty="0" spc="-395"/>
              <a:t>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926080"/>
            <a:ext cx="8046720" cy="6217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7680960" cy="5943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PRODUCTION ARCHITECTURE &amp; ALGORITHMS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1. Edge Computer Vision (MobileNetV3-Small INT8):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   • Depthwise separable convolutions + Hard-Swish activation (2.9M params, 2.5 MB weights, ~12ms WebGL inference) classifying 6 campus waste streams.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2. IoT Dual-Sensor Fusion Anomaly Algorithm (₹465/Bin BOM):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   • ESP32 + HC-SR04 Ultrasonic (fill %) + HX711 50kg Load Cell (mass kg).
   • Computes Apparent Bulk Density ρ = Δm / ΔV. If ρ &gt; 0.65 kg/L in a Paper Bin, flags Wet Contamination Alert automatically.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3. ElevenLabs Multilingual v2 Voice Synthesis: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   • Low-latency Hindi &amp; English spoken guidance for field workers &amp; students.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4. 2-Opt TSP Routing &amp; Algorithmic Re-Use Pricing: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   • 2-Opt heuristic cuts tractor distance by 34%. Dynamic Bazaar valuation: P = (Bc × Mcond) + Uacad + Afree.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36608" y="2944368"/>
            <a:ext cx="7370064" cy="49903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iot_sensor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017520"/>
            <a:ext cx="7223760" cy="4514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0" y="7568946"/>
            <a:ext cx="722376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Live ESP32 Ultrasonic + HX711 Load Cell Sensor-Fusion 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992" rIns="0" bIns="0" rtlCol="0" vert="horz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IMPACT</a:t>
            </a:r>
            <a:r>
              <a:rPr dirty="0" spc="-260"/>
              <a:t> </a:t>
            </a:r>
            <a:r>
              <a:rPr dirty="0" spc="-625"/>
              <a:t>&amp;</a:t>
            </a:r>
            <a:r>
              <a:rPr dirty="0" spc="-254"/>
              <a:t> </a:t>
            </a:r>
            <a:r>
              <a:rPr dirty="0" spc="-305"/>
              <a:t>SCALABILILTY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301752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3154680"/>
            <a:ext cx="3429000" cy="1920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59669"/>
                </a:solidFill>
                <a:latin typeface="Segoe UI"/>
              </a:rPr>
              <a:t>73.4%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Landfill Diversion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4,037 kg/day diverted into biogas &amp; B2B recycling at IIT Roorkee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301752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3154680"/>
            <a:ext cx="3429000" cy="1920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7C3AED"/>
                </a:solidFill>
                <a:latin typeface="Segoe UI"/>
              </a:rPr>
              <a:t>₹2.4L / mo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B2B Scrap Surplus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Unlocked via competitive reverse bidding with ITC &amp; Nepra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301752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3154680"/>
            <a:ext cx="3429000" cy="1920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384 Tonnes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CO₂e Avoided / Yr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+ 1,420 L/month tractor diesel saved via IoT-triggered TSP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47320" y="301752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0" y="3154680"/>
            <a:ext cx="3429000" cy="1920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97706"/>
                </a:solidFill>
                <a:latin typeface="Segoe UI"/>
              </a:rPr>
              <a:t>₹465 / Bin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Retrofittable IoT Node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18-day payback period from increased Grade-A scrap realization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5486400"/>
            <a:ext cx="15544800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669280"/>
            <a:ext cx="15087600" cy="3108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3-PHASE SCALABILITY ROADMAP: FROM GOVIND BHAWAN TO PAN-INDIA SMART CAMPUSES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Phase 1 (Months 1–2) — Govind Bhawan Pilot (200 Bins): Deploy QR stickers &amp; ESP32 load/ultrasonic nodes on main wing bins; onboard Squad #2 &amp; Campus Nescafe kiosk.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Phase 2 (Months 3–6) — Full IIT Roorkee Rollout (365 Acres, 5,500 kg/day): Expand across all 14 Bhawans, LHC, Central Library, and Messes; integrate Central SWM Baler Yard weighbridge.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Phase 3 (Year 1+) — Pan-IIT &amp; Smart Municipality SaaS Blueprint: Replicable zero-capex circular treasury model for 23 IITs, NITs, and gated townships across India.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27" y="7929904"/>
            <a:ext cx="141514" cy="1533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8137721"/>
            <a:ext cx="2828925" cy="2149475"/>
            <a:chOff x="0" y="8137721"/>
            <a:chExt cx="2828925" cy="21494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0353" y="8137721"/>
              <a:ext cx="447674" cy="447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356477"/>
              <a:ext cx="2828924" cy="19305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818" y="9428381"/>
              <a:ext cx="885824" cy="65722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6319196" y="0"/>
            <a:ext cx="1969135" cy="1937385"/>
            <a:chOff x="16319196" y="0"/>
            <a:chExt cx="1969135" cy="193738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56709" y="0"/>
              <a:ext cx="1531291" cy="1714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19196" y="1279722"/>
              <a:ext cx="1968804" cy="6572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4580085" y="207818"/>
            <a:ext cx="2190115" cy="1304925"/>
            <a:chOff x="14580085" y="207818"/>
            <a:chExt cx="2190115" cy="130492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0085" y="207818"/>
              <a:ext cx="447674" cy="438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98841" y="634392"/>
              <a:ext cx="447674" cy="447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6352" y="207818"/>
              <a:ext cx="1533524" cy="13049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6756708" y="2351626"/>
            <a:ext cx="1531620" cy="1946275"/>
            <a:chOff x="16756708" y="2351626"/>
            <a:chExt cx="1531620" cy="194627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75463" y="2351626"/>
              <a:ext cx="1312536" cy="15049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697046" y="3718963"/>
              <a:ext cx="141514" cy="14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56708" y="3850105"/>
              <a:ext cx="447674" cy="44767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194220" y="4495435"/>
            <a:ext cx="885824" cy="657224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6756708" y="6639244"/>
            <a:ext cx="1531620" cy="1303020"/>
            <a:chOff x="16756708" y="6639244"/>
            <a:chExt cx="1531620" cy="1303020"/>
          </a:xfrm>
        </p:grpSpPr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75463" y="6639244"/>
              <a:ext cx="1104899" cy="10858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56708" y="7284574"/>
              <a:ext cx="1531291" cy="65722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923818" y="9209626"/>
            <a:ext cx="447674" cy="228599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4142573" y="7711147"/>
            <a:ext cx="4140835" cy="2576195"/>
            <a:chOff x="14142573" y="7711147"/>
            <a:chExt cx="4140835" cy="2576195"/>
          </a:xfrm>
        </p:grpSpPr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580085" y="8575234"/>
              <a:ext cx="447674" cy="6476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42573" y="7711147"/>
              <a:ext cx="3276599" cy="19430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92621" y="8356477"/>
              <a:ext cx="2390774" cy="1930521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88021" y="126976"/>
            <a:ext cx="1228724" cy="12287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85145" y="0"/>
            <a:ext cx="2181224" cy="176293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536052" y="239109"/>
            <a:ext cx="2743199" cy="91439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576393" y="2256705"/>
            <a:ext cx="7353934" cy="2433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1400"/>
              </a:spcAft>
            </a:pPr>
            <a:r>
              <a:rPr sz="3000" b="1">
                <a:solidFill>
                  <a:srgbClr val="0F172A"/>
                </a:solidFill>
                <a:latin typeface="Arial Black"/>
              </a:rPr>
              <a:t>FROM IDEA TO IMPACT</a:t>
            </a:r>
            <a:endParaRPr sz="2800">
              <a:latin typeface="Arial Black"/>
              <a:cs typeface="Arial Black"/>
            </a:endParaRPr>
          </a:p>
          <a:p>
            <a:r>
              <a:rPr sz="1800" b="1">
                <a:solidFill>
                  <a:srgbClr val="059669"/>
                </a:solidFill>
                <a:latin typeface="Segoe UI"/>
              </a:rPr>
              <a:t>“Waste is only a design flaw of broken incentives. When a student’s clean segregation buys their evening Nescafe, a worker’s verified cleanup funds their Friday UPI bonus, and ITC bids live for campus scrap—zero-waste becomes an unstoppable, self-funding engine.”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96128" y="4956048"/>
            <a:ext cx="7095744" cy="4818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1_student_overview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69280" y="5029200"/>
            <a:ext cx="6949440" cy="4343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69280" y="9409176"/>
            <a:ext cx="6949440" cy="329184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34155"/>
                </a:solidFill>
                <a:latin typeface="Segoe UI"/>
              </a:rPr>
              <a:t>EcoCampus IIT Roorkee — Live &amp; Production-Ready at github.com/NIKHILESH-TS/EcoCampus-IITR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842" y="7929904"/>
            <a:ext cx="228599" cy="2190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8137721"/>
            <a:ext cx="2828925" cy="2149475"/>
            <a:chOff x="0" y="8137721"/>
            <a:chExt cx="2828925" cy="21494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0353" y="8137721"/>
              <a:ext cx="447674" cy="447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356477"/>
              <a:ext cx="2828924" cy="19305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818" y="9428381"/>
              <a:ext cx="885824" cy="65722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6319196" y="0"/>
            <a:ext cx="1969135" cy="1937385"/>
            <a:chOff x="16319196" y="0"/>
            <a:chExt cx="1969135" cy="193738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56709" y="0"/>
              <a:ext cx="1531291" cy="1714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19196" y="1279722"/>
              <a:ext cx="1968804" cy="6572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4580085" y="207818"/>
            <a:ext cx="2190115" cy="1304925"/>
            <a:chOff x="14580085" y="207818"/>
            <a:chExt cx="2190115" cy="130492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0085" y="207818"/>
              <a:ext cx="447674" cy="438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98841" y="634392"/>
              <a:ext cx="447674" cy="447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6352" y="207818"/>
              <a:ext cx="1533524" cy="13049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6756708" y="2351626"/>
            <a:ext cx="1531620" cy="1946275"/>
            <a:chOff x="16756708" y="2351626"/>
            <a:chExt cx="1531620" cy="194627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75463" y="2351626"/>
              <a:ext cx="1312536" cy="15049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631732" y="3642286"/>
              <a:ext cx="228599" cy="2190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56708" y="3850105"/>
              <a:ext cx="447674" cy="44767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194220" y="4495435"/>
            <a:ext cx="885824" cy="657224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6756708" y="6639244"/>
            <a:ext cx="1531620" cy="1303020"/>
            <a:chOff x="16756708" y="6639244"/>
            <a:chExt cx="1531620" cy="1303020"/>
          </a:xfrm>
        </p:grpSpPr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75463" y="6639244"/>
              <a:ext cx="1104899" cy="10858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56708" y="7284574"/>
              <a:ext cx="1531291" cy="65722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923818" y="9209626"/>
            <a:ext cx="447674" cy="228599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4142573" y="7711147"/>
            <a:ext cx="4140835" cy="2576195"/>
            <a:chOff x="14142573" y="7711147"/>
            <a:chExt cx="4140835" cy="2576195"/>
          </a:xfrm>
        </p:grpSpPr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580085" y="8575234"/>
              <a:ext cx="447674" cy="6476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42573" y="7711147"/>
              <a:ext cx="3276599" cy="19430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92621" y="8356477"/>
              <a:ext cx="2390774" cy="1930521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88021" y="126976"/>
            <a:ext cx="1228724" cy="12287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85145" y="0"/>
            <a:ext cx="2181224" cy="176293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536052" y="239109"/>
            <a:ext cx="2743199" cy="914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105984" y="3755349"/>
            <a:ext cx="4294601" cy="3111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dev pathak</dc:creator>
  <cp:keywords>DAHYvdXOmBg,BAHWH2rGeQY</cp:keywords>
  <dc:title>[YOUR IDEA / PROJECT NAME “your one-line vision goes here.” Team Name: [Team Name] Team Members: [Member 1] [Member 2] [Member 3] [Member 4]</dc:title>
  <dcterms:created xsi:type="dcterms:W3CDTF">2026-10-24T08:13:01Z</dcterms:created>
  <dcterms:modified xsi:type="dcterms:W3CDTF">2026-10-24T08:13:01Z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2026-10-24T00:00:00Z</vt:filetime>
  </property>
  <property fmtid="{D5CDD505-2E9C-101B-9397-08002B2CF9AE}" pid="3" name="Creator">
    <vt:lpwstr>Canva</vt:lpwstr>
  </property>
  <property fmtid="{D5CDD505-2E9C-101B-9397-08002B2CF9AE}" pid="4" name="LastSaved">
    <vt:filetime>2026-10-24T00:00:00Z</vt:filetime>
  </property>
  <property fmtid="{D5CDD505-2E9C-101B-9397-08002B2CF9AE}" pid="5" name="Producer">
    <vt:lpwstr>Canva</vt:lpwstr>
  </property>
</Properties>
</file>